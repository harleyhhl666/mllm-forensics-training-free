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44000"/>
            <a:ext cx="12193200" cy="57600"/>
          </a:xfrm>
          <a:prstGeom prst="rect">
            <a:avLst/>
          </a:prstGeom>
          <a:solidFill>
            <a:srgbClr val="2F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6000" y="2232000"/>
            <a:ext cx="10296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>
                <a:solidFill>
                  <a:srgbClr val="22303C"/>
                </a:solidFill>
                <a:latin typeface="Microsoft YaHei"/>
              </a:rPr>
              <a:t>基于外部取证工具与多模态大模型的图像鉴伪探索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6000" y="3240000"/>
            <a:ext cx="10296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5A6672"/>
                </a:solidFill>
                <a:latin typeface="Microsoft YaHei"/>
              </a:rPr>
              <a:t>—— Training-Free 阶段实验总结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6000" y="4176000"/>
            <a:ext cx="10296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2F6FAF"/>
                </a:solidFill>
                <a:latin typeface="Microsoft YaHei"/>
              </a:rPr>
              <a:t>ELA / TruFor  ＋  Qwen2.5-VL 7B / 32B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6000" y="5508000"/>
            <a:ext cx="10296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A6672"/>
                </a:solidFill>
                <a:latin typeface="Microsoft YaHei"/>
              </a:rPr>
              <a:t>26 个正式实验 ｜ 约 26300 次推理 ｜ 全部提示与样本实验前冻结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413999"/>
            <a:ext cx="1080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303C"/>
                </a:solidFill>
                <a:latin typeface="Microsoft YaHei"/>
              </a:rPr>
              <a:t>我们想解决什么问题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943200"/>
            <a:ext cx="1116000" cy="39600"/>
          </a:xfrm>
          <a:prstGeom prst="rect">
            <a:avLst/>
          </a:prstGeom>
          <a:solidFill>
            <a:srgbClr val="2F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4000" y="1483200"/>
            <a:ext cx="93600" cy="93600"/>
          </a:xfrm>
          <a:prstGeom prst="ellipse">
            <a:avLst/>
          </a:prstGeom>
          <a:solidFill>
            <a:srgbClr val="2F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200" y="1404000"/>
            <a:ext cx="105408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22303C"/>
                </a:solidFill>
                <a:latin typeface="Microsoft YaHei"/>
              </a:rPr>
              <a:t>传统取证工具能找到可疑区域，但通常不会用自然语言解释为什么可疑。</a:t>
            </a:r>
          </a:p>
        </p:txBody>
      </p:sp>
      <p:sp>
        <p:nvSpPr>
          <p:cNvPr id="7" name="Oval 6"/>
          <p:cNvSpPr/>
          <p:nvPr/>
        </p:nvSpPr>
        <p:spPr>
          <a:xfrm>
            <a:off x="684000" y="2023200"/>
            <a:ext cx="93600" cy="93600"/>
          </a:xfrm>
          <a:prstGeom prst="ellipse">
            <a:avLst/>
          </a:prstGeom>
          <a:solidFill>
            <a:srgbClr val="2F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3200" y="1944000"/>
            <a:ext cx="105408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22303C"/>
                </a:solidFill>
                <a:latin typeface="Microsoft YaHei"/>
              </a:rPr>
              <a:t>多模态大模型会解释图像，但它是否真的能正确利用专业取证证据？</a:t>
            </a:r>
          </a:p>
        </p:txBody>
      </p:sp>
      <p:sp>
        <p:nvSpPr>
          <p:cNvPr id="9" name="Oval 8"/>
          <p:cNvSpPr/>
          <p:nvPr/>
        </p:nvSpPr>
        <p:spPr>
          <a:xfrm>
            <a:off x="684000" y="2563200"/>
            <a:ext cx="93600" cy="93600"/>
          </a:xfrm>
          <a:prstGeom prst="ellipse">
            <a:avLst/>
          </a:prstGeom>
          <a:solidFill>
            <a:srgbClr val="2F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3200" y="2484000"/>
            <a:ext cx="105408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22303C"/>
                </a:solidFill>
                <a:latin typeface="Microsoft YaHei"/>
              </a:rPr>
              <a:t>因此先不训练模型，直接把工具输出交给大模型，看它能做到什么。</a:t>
            </a:r>
          </a:p>
        </p:txBody>
      </p:sp>
      <p:pic>
        <p:nvPicPr>
          <p:cNvPr id="11" name="Picture 10" descr="fig1_流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00" y="3456000"/>
            <a:ext cx="9823703" cy="273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413999"/>
            <a:ext cx="1080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303C"/>
                </a:solidFill>
                <a:latin typeface="Microsoft YaHei"/>
              </a:rPr>
              <a:t>整个实验路线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943200"/>
            <a:ext cx="1116000" cy="39600"/>
          </a:xfrm>
          <a:prstGeom prst="rect">
            <a:avLst/>
          </a:prstGeom>
          <a:solidFill>
            <a:srgbClr val="2F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1404000"/>
            <a:ext cx="2592000" cy="583200"/>
          </a:xfrm>
          <a:prstGeom prst="rect">
            <a:avLst/>
          </a:prstGeom>
          <a:solidFill>
            <a:srgbClr val="2F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1404000"/>
            <a:ext cx="2592000" cy="58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ELA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56000" y="1404000"/>
            <a:ext cx="7920000" cy="58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2303C"/>
                </a:solidFill>
                <a:latin typeface="Microsoft YaHei"/>
              </a:rPr>
              <a:t>经典方法，不需要训练：能给一点位置线索，整图判断偏弱</a:t>
            </a:r>
          </a:p>
        </p:txBody>
      </p:sp>
      <p:sp>
        <p:nvSpPr>
          <p:cNvPr id="8" name="Rectangle 7"/>
          <p:cNvSpPr/>
          <p:nvPr/>
        </p:nvSpPr>
        <p:spPr>
          <a:xfrm>
            <a:off x="1944000" y="1987200"/>
            <a:ext cx="36000" cy="1512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4000" y="2138400"/>
            <a:ext cx="2592000" cy="583200"/>
          </a:xfrm>
          <a:prstGeom prst="rect">
            <a:avLst/>
          </a:prstGeom>
          <a:solidFill>
            <a:srgbClr val="4A8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2138400"/>
            <a:ext cx="2592000" cy="58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TruFor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000" y="2138400"/>
            <a:ext cx="7920000" cy="58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2303C"/>
                </a:solidFill>
                <a:latin typeface="Microsoft YaHei"/>
              </a:rPr>
              <a:t>训练过的取证模型：先单独验证，确认工具本身足够强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44000" y="2721600"/>
            <a:ext cx="36000" cy="1512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4000" y="2872800"/>
            <a:ext cx="2592000" cy="583200"/>
          </a:xfrm>
          <a:prstGeom prst="rect">
            <a:avLst/>
          </a:prstGeom>
          <a:solidFill>
            <a:srgbClr val="2F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72800"/>
            <a:ext cx="2592000" cy="58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分数 ＋ 热力图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000" y="2872800"/>
            <a:ext cx="7920000" cy="58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2303C"/>
                </a:solidFill>
                <a:latin typeface="Microsoft YaHei"/>
              </a:rPr>
              <a:t>整图分数很有用，热力图没有带来预期提升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44000" y="3456000"/>
            <a:ext cx="36000" cy="1512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4000" y="3607200"/>
            <a:ext cx="2592000" cy="583200"/>
          </a:xfrm>
          <a:prstGeom prst="rect">
            <a:avLst/>
          </a:prstGeom>
          <a:solidFill>
            <a:srgbClr val="4A8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4000" y="3607200"/>
            <a:ext cx="2592000" cy="58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结构化空间证据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000" y="3607200"/>
            <a:ext cx="7920000" cy="58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2303C"/>
                </a:solidFill>
                <a:latin typeface="Microsoft YaHei"/>
              </a:rPr>
              <a:t>用固定程序把热力图转成文字位置描述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44000" y="4190400"/>
            <a:ext cx="36000" cy="1512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4000" y="4341600"/>
            <a:ext cx="2592000" cy="583200"/>
          </a:xfrm>
          <a:prstGeom prst="rect">
            <a:avLst/>
          </a:prstGeom>
          <a:solidFill>
            <a:srgbClr val="2F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000" y="4341600"/>
            <a:ext cx="2592000" cy="58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7B / 32B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000" y="4341600"/>
            <a:ext cx="7920000" cy="58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2303C"/>
                </a:solidFill>
                <a:latin typeface="Microsoft YaHei"/>
              </a:rPr>
              <a:t>同样的提示词，两种规模行为完全不同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44000" y="4924800"/>
            <a:ext cx="36000" cy="1512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4000" y="5076000"/>
            <a:ext cx="2592000" cy="583200"/>
          </a:xfrm>
          <a:prstGeom prst="rect">
            <a:avLst/>
          </a:prstGeom>
          <a:solidFill>
            <a:srgbClr val="4A8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4000" y="5076000"/>
            <a:ext cx="2592000" cy="58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解释正确性检查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56000" y="5076000"/>
            <a:ext cx="7920000" cy="58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2303C"/>
                </a:solidFill>
                <a:latin typeface="Microsoft YaHei"/>
              </a:rPr>
              <a:t>位置说对了，理由是否也说对了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000" y="6228000"/>
            <a:ext cx="10800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672"/>
                </a:solidFill>
                <a:latin typeface="Microsoft YaHei"/>
              </a:rPr>
              <a:t>每一次转向都是被一个否定结果推动的，不是按计划推进。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413999"/>
            <a:ext cx="1080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303C"/>
                </a:solidFill>
                <a:latin typeface="Microsoft YaHei"/>
              </a:rPr>
              <a:t>ELA：能定位，但不适合做最终判断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943200"/>
            <a:ext cx="1116000" cy="39600"/>
          </a:xfrm>
          <a:prstGeom prst="rect">
            <a:avLst/>
          </a:prstGeom>
          <a:solidFill>
            <a:srgbClr val="2F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4000" y="1519200"/>
            <a:ext cx="93600" cy="93600"/>
          </a:xfrm>
          <a:prstGeom prst="ellipse">
            <a:avLst/>
          </a:prstGeom>
          <a:solidFill>
            <a:srgbClr val="2F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200" y="1440000"/>
            <a:ext cx="105408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22303C"/>
                </a:solidFill>
                <a:latin typeface="Microsoft YaHei"/>
              </a:rPr>
              <a:t>原理一句话：把图像重新压缩一次，观察不同区域对压缩的反应差异，反应异常的地方可能被编辑过。</a:t>
            </a:r>
          </a:p>
        </p:txBody>
      </p:sp>
      <p:sp>
        <p:nvSpPr>
          <p:cNvPr id="7" name="Oval 6"/>
          <p:cNvSpPr/>
          <p:nvPr/>
        </p:nvSpPr>
        <p:spPr>
          <a:xfrm>
            <a:off x="684000" y="2239200"/>
            <a:ext cx="93600" cy="93600"/>
          </a:xfrm>
          <a:prstGeom prst="ellipse">
            <a:avLst/>
          </a:prstGeom>
          <a:solidFill>
            <a:srgbClr val="2F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3200" y="2160000"/>
            <a:ext cx="105408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22303C"/>
                </a:solidFill>
                <a:latin typeface="Microsoft YaHei"/>
              </a:rPr>
              <a:t>在 TGIF 数据上，对局部改动有一定的定位效果。</a:t>
            </a:r>
          </a:p>
        </p:txBody>
      </p:sp>
      <p:sp>
        <p:nvSpPr>
          <p:cNvPr id="9" name="Oval 8"/>
          <p:cNvSpPr/>
          <p:nvPr/>
        </p:nvSpPr>
        <p:spPr>
          <a:xfrm>
            <a:off x="684000" y="2959200"/>
            <a:ext cx="93600" cy="93600"/>
          </a:xfrm>
          <a:prstGeom prst="ellipse">
            <a:avLst/>
          </a:prstGeom>
          <a:solidFill>
            <a:srgbClr val="2F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3200" y="2880000"/>
            <a:ext cx="105408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22303C"/>
                </a:solidFill>
                <a:latin typeface="Microsoft YaHei"/>
              </a:rPr>
              <a:t>但作为「整张图是真还是假」的依据明显偏弱。</a:t>
            </a:r>
          </a:p>
        </p:txBody>
      </p:sp>
      <p:sp>
        <p:nvSpPr>
          <p:cNvPr id="11" name="Oval 10"/>
          <p:cNvSpPr/>
          <p:nvPr/>
        </p:nvSpPr>
        <p:spPr>
          <a:xfrm>
            <a:off x="684000" y="3679200"/>
            <a:ext cx="93600" cy="93600"/>
          </a:xfrm>
          <a:prstGeom prst="ellipse">
            <a:avLst/>
          </a:prstGeom>
          <a:solidFill>
            <a:srgbClr val="2F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3200" y="3600000"/>
            <a:ext cx="105408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22303C"/>
                </a:solidFill>
                <a:latin typeface="Microsoft YaHei"/>
              </a:rPr>
              <a:t>换成更大的模型也没有解决，说明问题不在模型规模。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4000" y="5814000"/>
            <a:ext cx="10836000" cy="666000"/>
          </a:xfrm>
          <a:prstGeom prst="rect">
            <a:avLst/>
          </a:prstGeom>
          <a:solidFill>
            <a:srgbClr val="ED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4000" y="5814000"/>
            <a:ext cx="46800" cy="666000"/>
          </a:xfrm>
          <a:prstGeom prst="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000" y="5814000"/>
            <a:ext cx="10440000" cy="66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2303C"/>
                </a:solidFill>
                <a:latin typeface="Microsoft YaHei"/>
              </a:rPr>
              <a:t>ELA 可以作为一个弱的空间提示，不足以作为可靠的最终判据 → 转向 TruFor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413999"/>
            <a:ext cx="1080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303C"/>
                </a:solidFill>
                <a:latin typeface="Microsoft YaHei"/>
              </a:rPr>
              <a:t>TruFor：先确认工具本身足够强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943200"/>
            <a:ext cx="1116000" cy="39600"/>
          </a:xfrm>
          <a:prstGeom prst="rect">
            <a:avLst/>
          </a:prstGeom>
          <a:solidFill>
            <a:srgbClr val="2F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000" y="1080000"/>
            <a:ext cx="108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6672"/>
                </a:solidFill>
                <a:latin typeface="Microsoft YaHei"/>
              </a:rPr>
              <a:t>200 组图像，每组一张假图与一张配对真图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684000" y="1440000"/>
            <a:ext cx="2520000" cy="12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4000" y="1591200"/>
            <a:ext cx="25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A6672"/>
                </a:solidFill>
                <a:latin typeface="Microsoft YaHei"/>
              </a:rPr>
              <a:t>整图判别 AUROC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" y="1853999"/>
            <a:ext cx="252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2F6FAF"/>
                </a:solidFill>
                <a:latin typeface="Microsoft YaHei"/>
              </a:rPr>
              <a:t>0.9850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" y="2304000"/>
            <a:ext cx="25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A6672"/>
                </a:solidFill>
                <a:latin typeface="Microsoft YaHei"/>
              </a:rPr>
              <a:t>接近上限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38000" y="1440000"/>
            <a:ext cx="2520000" cy="12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38000" y="1591200"/>
            <a:ext cx="25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A6672"/>
                </a:solidFill>
                <a:latin typeface="Microsoft YaHei"/>
              </a:rPr>
              <a:t>低误报下检出率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8000" y="1853999"/>
            <a:ext cx="252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2F6FAF"/>
                </a:solidFill>
                <a:latin typeface="Microsoft YaHei"/>
              </a:rPr>
              <a:t>0.955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8000" y="2304000"/>
            <a:ext cx="25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A6672"/>
                </a:solidFill>
                <a:latin typeface="Microsoft YaHei"/>
              </a:rPr>
              <a:t>误报 ≤5% 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2000" y="1440000"/>
            <a:ext cx="2520000" cy="12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2000" y="1591200"/>
            <a:ext cx="25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A6672"/>
                </a:solidFill>
                <a:latin typeface="Microsoft YaHei"/>
              </a:rPr>
              <a:t>像素级 AUROC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2000" y="1853999"/>
            <a:ext cx="252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3E8E5A"/>
                </a:solidFill>
                <a:latin typeface="Microsoft YaHei"/>
              </a:rPr>
              <a:t>0.993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2000" y="2304000"/>
            <a:ext cx="25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A6672"/>
                </a:solidFill>
                <a:latin typeface="Microsoft YaHei"/>
              </a:rPr>
              <a:t>逐像素定位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46000" y="1440000"/>
            <a:ext cx="2520000" cy="12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46000" y="1591200"/>
            <a:ext cx="25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A6672"/>
                </a:solidFill>
                <a:latin typeface="Microsoft YaHei"/>
              </a:rPr>
              <a:t>区域重合度 IoU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6000" y="1853999"/>
            <a:ext cx="252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3E8E5A"/>
                </a:solidFill>
                <a:latin typeface="Microsoft YaHei"/>
              </a:rPr>
              <a:t>0.758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46000" y="2304000"/>
            <a:ext cx="25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A6672"/>
                </a:solidFill>
                <a:latin typeface="Microsoft YaHei"/>
              </a:rPr>
              <a:t>与真实区域重叠</a:t>
            </a:r>
          </a:p>
        </p:txBody>
      </p:sp>
      <p:pic>
        <p:nvPicPr>
          <p:cNvPr id="22" name="Picture 21" descr="fig2_TruFor工具性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000" y="2772000"/>
            <a:ext cx="4200102" cy="2232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84000" y="5094000"/>
            <a:ext cx="10836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672"/>
                </a:solidFill>
                <a:latin typeface="Microsoft YaHei"/>
              </a:rPr>
              <a:t>另有像素级 F1 = 0.846。蓝色为整图判断能力，绿色为区域定位能力。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4000" y="5580000"/>
            <a:ext cx="10836000" cy="666000"/>
          </a:xfrm>
          <a:prstGeom prst="rect">
            <a:avLst/>
          </a:prstGeom>
          <a:solidFill>
            <a:srgbClr val="ED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4000" y="5580000"/>
            <a:ext cx="46800" cy="666000"/>
          </a:xfrm>
          <a:prstGeom prst="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000" y="5580000"/>
            <a:ext cx="10440000" cy="66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2303C"/>
                </a:solidFill>
                <a:latin typeface="Microsoft YaHei"/>
              </a:rPr>
              <a:t>工具本身足够强，因此后续重点研究大模型怎么使用它，而不是怀疑工具太差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413999"/>
            <a:ext cx="1080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303C"/>
                </a:solidFill>
                <a:latin typeface="Microsoft YaHei"/>
              </a:rPr>
              <a:t>7B：分数有用，热力图未必有用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943200"/>
            <a:ext cx="1116000" cy="39600"/>
          </a:xfrm>
          <a:prstGeom prst="rect">
            <a:avLst/>
          </a:prstGeom>
          <a:solidFill>
            <a:srgbClr val="2F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40000" y="1548000"/>
            <a:ext cx="3816000" cy="151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40000" y="1699200"/>
            <a:ext cx="381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A6672"/>
                </a:solidFill>
                <a:latin typeface="Microsoft YaHei"/>
              </a:rPr>
              <a:t>只给整图篡改分数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1961999"/>
            <a:ext cx="3816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2F6FAF"/>
                </a:solidFill>
                <a:latin typeface="Microsoft YaHei"/>
              </a:rPr>
              <a:t>0.826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0000" y="2700000"/>
            <a:ext cx="381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A6672"/>
                </a:solidFill>
                <a:latin typeface="Microsoft YaHei"/>
              </a:rPr>
              <a:t>综合判别指标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72000" y="2160000"/>
            <a:ext cx="86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0">
                <a:solidFill>
                  <a:srgbClr val="5A6672"/>
                </a:solidFill>
                <a:latin typeface="Microsoft YaHe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52000" y="1548000"/>
            <a:ext cx="3816000" cy="151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2000" y="1699200"/>
            <a:ext cx="381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A6672"/>
                </a:solidFill>
                <a:latin typeface="Microsoft YaHei"/>
              </a:rPr>
              <a:t>再加空间热力图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2000" y="1961999"/>
            <a:ext cx="3816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C4622D"/>
                </a:solidFill>
                <a:latin typeface="Microsoft YaHei"/>
              </a:rPr>
              <a:t>−0.228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2000" y="2700000"/>
            <a:ext cx="381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A6672"/>
                </a:solidFill>
                <a:latin typeface="Microsoft YaHei"/>
              </a:rPr>
              <a:t>综合指标反而下降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000" y="3276000"/>
            <a:ext cx="10836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5A6672"/>
                </a:solidFill>
                <a:latin typeface="Microsoft YaHei"/>
              </a:rPr>
              <a:t>病例层面：56 张图从「只给分数时判对为假」变成「加热力图后判成真」，反方向 0 例。</a:t>
            </a:r>
          </a:p>
        </p:txBody>
      </p:sp>
      <p:sp>
        <p:nvSpPr>
          <p:cNvPr id="15" name="Oval 14"/>
          <p:cNvSpPr/>
          <p:nvPr/>
        </p:nvSpPr>
        <p:spPr>
          <a:xfrm>
            <a:off x="684000" y="3967200"/>
            <a:ext cx="93600" cy="93600"/>
          </a:xfrm>
          <a:prstGeom prst="ellipse">
            <a:avLst/>
          </a:prstGeom>
          <a:solidFill>
            <a:srgbClr val="2F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3200" y="3888000"/>
            <a:ext cx="10540800" cy="52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22303C"/>
                </a:solidFill>
                <a:latin typeface="Microsoft YaHei"/>
              </a:rPr>
              <a:t>给出整图分数后真假判断明显变好 —— 整图分数是强信号。</a:t>
            </a:r>
          </a:p>
        </p:txBody>
      </p:sp>
      <p:sp>
        <p:nvSpPr>
          <p:cNvPr id="17" name="Oval 16"/>
          <p:cNvSpPr/>
          <p:nvPr/>
        </p:nvSpPr>
        <p:spPr>
          <a:xfrm>
            <a:off x="684000" y="4489200"/>
            <a:ext cx="93600" cy="93600"/>
          </a:xfrm>
          <a:prstGeom prst="ellipse">
            <a:avLst/>
          </a:prstGeom>
          <a:solidFill>
            <a:srgbClr val="2F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3200" y="4410000"/>
            <a:ext cx="10540800" cy="52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22303C"/>
                </a:solidFill>
                <a:latin typeface="Microsoft YaHei"/>
              </a:rPr>
              <a:t>但在已有分数的情况下再给热力图，判断没有进一步改善，反而下降。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4000" y="5814000"/>
            <a:ext cx="10836000" cy="666000"/>
          </a:xfrm>
          <a:prstGeom prst="rect">
            <a:avLst/>
          </a:prstGeom>
          <a:solidFill>
            <a:srgbClr val="ED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4000" y="5814000"/>
            <a:ext cx="46800" cy="666000"/>
          </a:xfrm>
          <a:prstGeom prst="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000" y="5814000"/>
            <a:ext cx="10440000" cy="66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2303C"/>
                </a:solidFill>
                <a:latin typeface="Microsoft YaHei"/>
              </a:rPr>
              <a:t>提出问题：模型到底有没有在看热力图里的位置？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413999"/>
            <a:ext cx="1080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303C"/>
                </a:solidFill>
                <a:latin typeface="Microsoft YaHei"/>
              </a:rPr>
              <a:t>平移热力图实验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943200"/>
            <a:ext cx="1116000" cy="39600"/>
          </a:xfrm>
          <a:prstGeom prst="rect">
            <a:avLst/>
          </a:prstGeom>
          <a:solidFill>
            <a:srgbClr val="2F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000" y="1080000"/>
            <a:ext cx="108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6672"/>
                </a:solidFill>
                <a:latin typeface="Microsoft YaHei"/>
              </a:rPr>
              <a:t>把热力图整体平移，让它和真实篡改区域错位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4000" y="1548000"/>
            <a:ext cx="5256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2303C"/>
                </a:solidFill>
                <a:latin typeface="Microsoft YaHei"/>
              </a:rPr>
              <a:t>做法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700" b="0">
                <a:solidFill>
                  <a:srgbClr val="22303C"/>
                </a:solidFill>
                <a:latin typeface="Microsoft YaHei"/>
              </a:rPr>
              <a:t>热力图里的数值一个都没变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700" b="0">
                <a:solidFill>
                  <a:srgbClr val="22303C"/>
                </a:solidFill>
                <a:latin typeface="Microsoft YaHei"/>
              </a:rPr>
              <a:t>（数值多重集逐个元素相同），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700" b="0">
                <a:solidFill>
                  <a:srgbClr val="22303C"/>
                </a:solidFill>
                <a:latin typeface="Microsoft YaHei"/>
              </a:rPr>
              <a:t>只破坏了对齐关系。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80000" y="1512000"/>
            <a:ext cx="500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0000" y="1663200"/>
            <a:ext cx="500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A6672"/>
                </a:solidFill>
                <a:latin typeface="Microsoft YaHei"/>
              </a:rPr>
              <a:t>平移热力图后，真假判断的变化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0" y="1925999"/>
            <a:ext cx="5004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C4622D"/>
                </a:solidFill>
                <a:latin typeface="Microsoft YaHei"/>
              </a:rPr>
              <a:t>−0.027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0" y="2448000"/>
            <a:ext cx="500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A6672"/>
                </a:solidFill>
                <a:latin typeface="Microsoft YaHei"/>
              </a:rPr>
              <a:t>置信区间包含 0，统计上看不出差别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4000" y="3240000"/>
            <a:ext cx="10836000" cy="666000"/>
          </a:xfrm>
          <a:prstGeom prst="rect">
            <a:avLst/>
          </a:prstGeom>
          <a:solidFill>
            <a:srgbClr val="ED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4000" y="3240000"/>
            <a:ext cx="46800" cy="666000"/>
          </a:xfrm>
          <a:prstGeom prst="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000" y="3240000"/>
            <a:ext cx="10440000" cy="66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2303C"/>
                </a:solidFill>
                <a:latin typeface="Microsoft YaHei"/>
              </a:rPr>
              <a:t>7B 没有真正检查热力图与原图的位置是否对应：它看到了第二张图，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700" b="1">
                <a:solidFill>
                  <a:srgbClr val="22303C"/>
                </a:solidFill>
                <a:latin typeface="Microsoft YaHei"/>
              </a:rPr>
              <a:t>但没有利用其中的空间对应关系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000" y="4536000"/>
            <a:ext cx="10800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5A6672"/>
                </a:solidFill>
                <a:latin typeface="Microsoft YaHei"/>
              </a:rPr>
              <a:t>补充：32B 上重复同一实验，结果同样是 −0.027，置信区间同样包含 0。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700" b="0">
                <a:solidFill>
                  <a:srgbClr val="5A6672"/>
                </a:solidFill>
                <a:latin typeface="Microsoft YaHei"/>
              </a:rPr>
              <a:t>单纯增加参数规模，并不能解决「模型是否核对空间证据」的问题。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413999"/>
            <a:ext cx="1080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303C"/>
                </a:solidFill>
                <a:latin typeface="Microsoft YaHei"/>
              </a:rPr>
              <a:t>改成结构化空间证据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943200"/>
            <a:ext cx="1116000" cy="39600"/>
          </a:xfrm>
          <a:prstGeom prst="rect">
            <a:avLst/>
          </a:prstGeom>
          <a:solidFill>
            <a:srgbClr val="2F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000" y="1080000"/>
            <a:ext cx="108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6672"/>
                </a:solidFill>
                <a:latin typeface="Microsoft YaHei"/>
              </a:rPr>
              <a:t>不再让模型自己看热力图，先用固定程序整理成文字</a:t>
            </a:r>
          </a:p>
        </p:txBody>
      </p:sp>
      <p:sp>
        <p:nvSpPr>
          <p:cNvPr id="6" name="Rectangle 5"/>
          <p:cNvSpPr/>
          <p:nvPr/>
        </p:nvSpPr>
        <p:spPr>
          <a:xfrm>
            <a:off x="684000" y="1548000"/>
            <a:ext cx="4824000" cy="1944000"/>
          </a:xfrm>
          <a:prstGeom prst="rect">
            <a:avLst/>
          </a:prstGeom>
          <a:solidFill>
            <a:srgbClr val="F2F5F8"/>
          </a:solidFill>
          <a:ln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6000" y="1728000"/>
            <a:ext cx="4320000" cy="165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22303C"/>
                </a:solidFill>
                <a:latin typeface="Microsoft YaHei"/>
              </a:rPr>
              <a:t>区域 1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700" b="0">
                <a:solidFill>
                  <a:srgbClr val="22303C"/>
                </a:solidFill>
                <a:latin typeface="Microsoft YaHei"/>
              </a:rPr>
              <a:t>    位置：右下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700" b="0">
                <a:solidFill>
                  <a:srgbClr val="22303C"/>
                </a:solidFill>
                <a:latin typeface="Microsoft YaHei"/>
              </a:rPr>
              <a:t>    面积占比：3.2%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700" b="0">
                <a:solidFill>
                  <a:srgbClr val="22303C"/>
                </a:solidFill>
                <a:latin typeface="Microsoft YaHei"/>
              </a:rPr>
              <a:t>    平均可疑度：0.87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700" b="0">
                <a:solidFill>
                  <a:srgbClr val="22303C"/>
                </a:solidFill>
                <a:latin typeface="Microsoft YaHei"/>
              </a:rPr>
              <a:t>    最高可疑度：0.99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76000" y="1548000"/>
          <a:ext cx="5508000" cy="110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600"/>
                <a:gridCol w="1573200"/>
                <a:gridCol w="1573200"/>
              </a:tblGrid>
              <a:tr h="36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 marL="100800" marR="100800" marT="28800" marB="28800" anchor="ctr">
                    <a:solidFill>
                      <a:srgbClr val="2F6F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</a:rPr>
                        <a:t>直接给热力图</a:t>
                      </a:r>
                    </a:p>
                  </a:txBody>
                  <a:tcPr marL="100800" marR="100800" marT="28800" marB="28800" anchor="ctr">
                    <a:solidFill>
                      <a:srgbClr val="2F6F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</a:rPr>
                        <a:t>转成文字描述</a:t>
                      </a:r>
                    </a:p>
                  </a:txBody>
                  <a:tcPr marL="100800" marR="100800" marT="28800" marB="28800" anchor="ctr">
                    <a:solidFill>
                      <a:srgbClr val="2F6FAF"/>
                    </a:solidFill>
                  </a:tcPr>
                </a:tc>
              </a:tr>
              <a:tr h="36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303C"/>
                          </a:solidFill>
                          <a:latin typeface="Microsoft YaHei"/>
                        </a:rPr>
                        <a:t>解释与工具证据一致</a:t>
                      </a:r>
                    </a:p>
                  </a:txBody>
                  <a:tcPr marL="100800" marR="100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303C"/>
                          </a:solidFill>
                          <a:latin typeface="Microsoft YaHei"/>
                        </a:rPr>
                        <a:t>0.404</a:t>
                      </a:r>
                    </a:p>
                  </a:txBody>
                  <a:tcPr marL="100800" marR="100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4622D"/>
                          </a:solidFill>
                          <a:latin typeface="Microsoft YaHei"/>
                        </a:rPr>
                        <a:t>1.000</a:t>
                      </a:r>
                    </a:p>
                  </a:txBody>
                  <a:tcPr marL="100800" marR="100800" marT="28800" marB="28800" anchor="ctr">
                    <a:solidFill>
                      <a:srgbClr val="FFFFFF"/>
                    </a:solidFill>
                  </a:tcPr>
                </a:tc>
              </a:tr>
              <a:tr h="36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303C"/>
                          </a:solidFill>
                          <a:latin typeface="Microsoft YaHei"/>
                        </a:rPr>
                        <a:t>编造不存在的区域</a:t>
                      </a:r>
                    </a:p>
                  </a:txBody>
                  <a:tcPr marL="100800" marR="100800" marT="28800" marB="288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303C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100800" marR="100800" marT="28800" marB="288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4622D"/>
                          </a:solidFill>
                          <a:latin typeface="Microsoft YaHei"/>
                        </a:rPr>
                        <a:t>0.000</a:t>
                      </a:r>
                    </a:p>
                  </a:txBody>
                  <a:tcPr marL="100800" marR="100800" marT="28800" marB="28800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84000" y="3564000"/>
            <a:ext cx="10836000" cy="666000"/>
          </a:xfrm>
          <a:prstGeom prst="rect">
            <a:avLst/>
          </a:prstGeom>
          <a:solidFill>
            <a:srgbClr val="ED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4000" y="3564000"/>
            <a:ext cx="46800" cy="666000"/>
          </a:xfrm>
          <a:prstGeom prst="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000" y="3564000"/>
            <a:ext cx="10440000" cy="66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2303C"/>
                </a:solidFill>
                <a:latin typeface="Microsoft YaHei"/>
              </a:rPr>
              <a:t>整理过程完全由程序完成，没有引入任何新模型，规则在实验前已冻结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4824000"/>
            <a:ext cx="1080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22303C"/>
                </a:solidFill>
                <a:latin typeface="Microsoft YaHei"/>
              </a:rPr>
              <a:t>结果：模型终于能够稳定理解「工具认为哪里有问题」，并且从不编造证据里不存在的区域。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413999"/>
            <a:ext cx="1080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303C"/>
                </a:solidFill>
                <a:latin typeface="Microsoft YaHei"/>
              </a:rPr>
              <a:t>但 7B 的真假判断突然崩了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943200"/>
            <a:ext cx="1116000" cy="39600"/>
          </a:xfrm>
          <a:prstGeom prst="rect">
            <a:avLst/>
          </a:prstGeom>
          <a:solidFill>
            <a:srgbClr val="2F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24000" y="1728000"/>
            <a:ext cx="3816000" cy="1655999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24000" y="1879200"/>
            <a:ext cx="381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A6672"/>
                </a:solidFill>
                <a:latin typeface="Microsoft YaHei"/>
              </a:rPr>
              <a:t>只给整图分数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4000" y="2141999"/>
            <a:ext cx="3816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2F6FAF"/>
                </a:solidFill>
                <a:latin typeface="Microsoft YaHei"/>
              </a:rPr>
              <a:t>0.826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4000" y="3023999"/>
            <a:ext cx="381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A6672"/>
                </a:solidFill>
                <a:latin typeface="Microsoft YaHei"/>
              </a:rPr>
              <a:t>综合判别指标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6000" y="2340000"/>
            <a:ext cx="165599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0">
                <a:solidFill>
                  <a:srgbClr val="C4622D"/>
                </a:solidFill>
                <a:latin typeface="Microsoft YaHe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28000" y="1728000"/>
            <a:ext cx="3816000" cy="1655999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28000" y="1879200"/>
            <a:ext cx="381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A6672"/>
                </a:solidFill>
                <a:latin typeface="Microsoft YaHei"/>
              </a:rPr>
              <a:t>加结构化证据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28000" y="2141999"/>
            <a:ext cx="3816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C4622D"/>
                </a:solidFill>
                <a:latin typeface="Microsoft YaHei"/>
              </a:rPr>
              <a:t>0.114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28000" y="3023999"/>
            <a:ext cx="381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A6672"/>
                </a:solidFill>
                <a:latin typeface="Microsoft YaHei"/>
              </a:rPr>
              <a:t>综合判别指标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4000" y="4104000"/>
            <a:ext cx="10836000" cy="900000"/>
          </a:xfrm>
          <a:prstGeom prst="rect">
            <a:avLst/>
          </a:prstGeom>
          <a:solidFill>
            <a:srgbClr val="FA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4000" y="4104000"/>
            <a:ext cx="108360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C4622D"/>
                </a:solidFill>
                <a:latin typeface="Microsoft YaHei"/>
              </a:rPr>
              <a:t>为什么信息更清楚了，判断反而更差？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413999"/>
            <a:ext cx="1080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303C"/>
                </a:solidFill>
                <a:latin typeface="Microsoft YaHei"/>
              </a:rPr>
              <a:t>真正的问题是提示方式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943200"/>
            <a:ext cx="1116000" cy="39600"/>
          </a:xfrm>
          <a:prstGeom prst="rect">
            <a:avLst/>
          </a:prstGeom>
          <a:solidFill>
            <a:srgbClr val="2F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000" y="1080000"/>
            <a:ext cx="108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6672"/>
                </a:solidFill>
                <a:latin typeface="Microsoft YaHei"/>
              </a:rPr>
              <a:t>我们先后排除了几种解释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4000" y="1512000"/>
          <a:ext cx="10836000" cy="178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8800"/>
                <a:gridCol w="1249200"/>
                <a:gridCol w="5418000"/>
              </a:tblGrid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曾经的猜测</a:t>
                      </a:r>
                    </a:p>
                  </a:txBody>
                  <a:tcPr marL="100800" marR="100800" marT="28800" marB="28800" anchor="ctr">
                    <a:solidFill>
                      <a:srgbClr val="2F6F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结论</a:t>
                      </a:r>
                    </a:p>
                  </a:txBody>
                  <a:tcPr marL="100800" marR="100800" marT="28800" marB="28800" anchor="ctr">
                    <a:solidFill>
                      <a:srgbClr val="2F6F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依据</a:t>
                      </a:r>
                    </a:p>
                  </a:txBody>
                  <a:tcPr marL="100800" marR="100800" marT="28800" marB="28800" anchor="ctr">
                    <a:solidFill>
                      <a:srgbClr val="2F6FAF"/>
                    </a:solidFill>
                  </a:tcPr>
                </a:tc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303C"/>
                          </a:solidFill>
                          <a:latin typeface="Microsoft YaHei"/>
                        </a:rPr>
                        <a:t>是「面积」字段让模型觉得改动太小</a:t>
                      </a:r>
                    </a:p>
                  </a:txBody>
                  <a:tcPr marL="100800" marR="100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303C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 marL="100800" marR="100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303C"/>
                          </a:solidFill>
                          <a:latin typeface="Microsoft YaHei"/>
                        </a:rPr>
                        <a:t>各字段伤害相近；只给位置再加面积，表现反而变好</a:t>
                      </a:r>
                    </a:p>
                  </a:txBody>
                  <a:tcPr marL="100800" marR="100800" marT="28800" marB="28800" anchor="ctr">
                    <a:solidFill>
                      <a:srgbClr val="FFFFFF"/>
                    </a:solidFill>
                  </a:tcPr>
                </a:tc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303C"/>
                          </a:solidFill>
                          <a:latin typeface="Microsoft YaHei"/>
                        </a:rPr>
                        <a:t>是字段太多、结构太复杂</a:t>
                      </a:r>
                    </a:p>
                  </a:txBody>
                  <a:tcPr marL="100800" marR="100800" marT="28800" marB="288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303C"/>
                          </a:solidFill>
                          <a:latin typeface="Microsoft YaHei"/>
                        </a:rPr>
                        <a:t>基本否</a:t>
                      </a:r>
                    </a:p>
                  </a:txBody>
                  <a:tcPr marL="100800" marR="100800" marT="28800" marB="288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303C"/>
                          </a:solidFill>
                          <a:latin typeface="Microsoft YaHei"/>
                        </a:rPr>
                        <a:t>同样提示词但载荷完全为空时，判断就已经崩了</a:t>
                      </a:r>
                    </a:p>
                  </a:txBody>
                  <a:tcPr marL="100800" marR="100800" marT="28800" marB="28800" anchor="ctr">
                    <a:solidFill>
                      <a:srgbClr val="F2F5F8"/>
                    </a:solidFill>
                  </a:tcPr>
                </a:tc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303C"/>
                          </a:solidFill>
                          <a:latin typeface="Microsoft YaHei"/>
                        </a:rPr>
                        <a:t>需要把「是否篡改」和「范围多大」拆开</a:t>
                      </a:r>
                    </a:p>
                  </a:txBody>
                  <a:tcPr marL="100800" marR="100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303C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 marL="100800" marR="100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303C"/>
                          </a:solidFill>
                          <a:latin typeface="Microsoft YaHei"/>
                        </a:rPr>
                        <a:t>拆开后误报率约 0.95，变成过度检出</a:t>
                      </a:r>
                    </a:p>
                  </a:txBody>
                  <a:tcPr marL="100800" marR="100800" marT="28800" marB="28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4000" y="3456000"/>
            <a:ext cx="10836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2303C"/>
                </a:solidFill>
                <a:latin typeface="Microsoft YaHei"/>
              </a:rPr>
              <a:t>定位到的原因：提示里强调「局部区域的取证信息」之后，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700" b="0">
                <a:solidFill>
                  <a:srgbClr val="22303C"/>
                </a:solidFill>
                <a:latin typeface="Microsoft YaHei"/>
              </a:rPr>
              <a:t>7B 容易得出「虽然局部有修改，但整张图仍然算真实」。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84000" y="4176000"/>
            <a:ext cx="6983999" cy="827999"/>
          </a:xfrm>
          <a:prstGeom prst="rect">
            <a:avLst/>
          </a:prstGeom>
          <a:solidFill>
            <a:srgbClr val="EC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4176000"/>
            <a:ext cx="6623999" cy="827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2303C"/>
                </a:solidFill>
                <a:latin typeface="Microsoft YaHei"/>
              </a:rPr>
              <a:t>加一句规则：只要确实存在真实篡改，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700" b="1">
                <a:solidFill>
                  <a:srgbClr val="22303C"/>
                </a:solidFill>
                <a:latin typeface="Microsoft YaHei"/>
              </a:rPr>
              <a:t>无论多小，都判为假。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3999" y="4104000"/>
            <a:ext cx="3420000" cy="9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3999" y="4255200"/>
            <a:ext cx="34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A6672"/>
                </a:solidFill>
                <a:latin typeface="Microsoft YaHei"/>
              </a:rPr>
              <a:t>综合判别指标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3999" y="4517999"/>
            <a:ext cx="342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3E8E5A"/>
                </a:solidFill>
                <a:latin typeface="Microsoft YaHei"/>
              </a:rPr>
              <a:t>0.114 → 0.902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413999"/>
            <a:ext cx="1080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303C"/>
                </a:solidFill>
                <a:latin typeface="Microsoft YaHei"/>
              </a:rPr>
              <a:t>严格对照后发现：不是空间证据让它更准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943200"/>
            <a:ext cx="1116000" cy="39600"/>
          </a:xfrm>
          <a:prstGeom prst="rect">
            <a:avLst/>
          </a:prstGeom>
          <a:solidFill>
            <a:srgbClr val="2F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4000" y="1512000"/>
          <a:ext cx="5108400" cy="14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2800"/>
                <a:gridCol w="1702800"/>
                <a:gridCol w="1702800"/>
              </a:tblGrid>
              <a:tr h="4860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7B</a:t>
                      </a:r>
                    </a:p>
                  </a:txBody>
                  <a:tcPr marL="100800" marR="100800" marT="28800" marB="28800" anchor="ctr">
                    <a:solidFill>
                      <a:srgbClr val="2F6F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无结构化证据</a:t>
                      </a:r>
                    </a:p>
                  </a:txBody>
                  <a:tcPr marL="100800" marR="100800" marT="28800" marB="28800" anchor="ctr">
                    <a:solidFill>
                      <a:srgbClr val="2F6F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</a:rPr>
                        <a:t>有结构化证据</a:t>
                      </a:r>
                    </a:p>
                  </a:txBody>
                  <a:tcPr marL="100800" marR="100800" marT="28800" marB="28800" anchor="ctr">
                    <a:solidFill>
                      <a:srgbClr val="2F6FA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303C"/>
                          </a:solidFill>
                          <a:latin typeface="Microsoft YaHei"/>
                        </a:rPr>
                        <a:t>无明确规则</a:t>
                      </a:r>
                    </a:p>
                  </a:txBody>
                  <a:tcPr marL="100800" marR="100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303C"/>
                          </a:solidFill>
                          <a:latin typeface="Microsoft YaHei"/>
                        </a:rPr>
                        <a:t>A0　0.826</a:t>
                      </a:r>
                    </a:p>
                  </a:txBody>
                  <a:tcPr marL="100800" marR="100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303C"/>
                          </a:solidFill>
                          <a:latin typeface="Microsoft YaHei"/>
                        </a:rPr>
                        <a:t>A2　0.114</a:t>
                      </a:r>
                    </a:p>
                  </a:txBody>
                  <a:tcPr marL="100800" marR="100800" marT="28800" marB="28800" anchor="ctr"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303C"/>
                          </a:solidFill>
                          <a:latin typeface="Microsoft YaHei"/>
                        </a:rPr>
                        <a:t>有明确规则</a:t>
                      </a:r>
                    </a:p>
                  </a:txBody>
                  <a:tcPr marL="100800" marR="100800" marT="28800" marB="288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4622D"/>
                          </a:solidFill>
                          <a:latin typeface="Microsoft YaHei"/>
                        </a:rPr>
                        <a:t>A1　0.897</a:t>
                      </a:r>
                    </a:p>
                  </a:txBody>
                  <a:tcPr marL="100800" marR="100800" marT="28800" marB="288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C4622D"/>
                          </a:solidFill>
                          <a:latin typeface="Microsoft YaHei"/>
                        </a:rPr>
                        <a:t>A3　0.902</a:t>
                      </a:r>
                    </a:p>
                  </a:txBody>
                  <a:tcPr marL="100800" marR="100800" marT="28800" marB="28800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fig3_7B四格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000" y="1475999"/>
            <a:ext cx="5194354" cy="3024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4000" y="3240000"/>
            <a:ext cx="5112000" cy="936000"/>
          </a:xfrm>
          <a:prstGeom prst="rect">
            <a:avLst/>
          </a:prstGeom>
          <a:solidFill>
            <a:srgbClr val="FA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000" y="3240000"/>
            <a:ext cx="4824000" cy="93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C4622D"/>
                </a:solidFill>
                <a:latin typeface="Microsoft YaHei"/>
              </a:rPr>
              <a:t>A1 与 A3 基本一样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700" b="1">
                <a:solidFill>
                  <a:srgbClr val="C4622D"/>
                </a:solidFill>
                <a:latin typeface="Microsoft YaHei"/>
              </a:rPr>
              <a:t>差异 +0.005，置信区间包含 0</a:t>
            </a:r>
          </a:p>
        </p:txBody>
      </p:sp>
      <p:sp>
        <p:nvSpPr>
          <p:cNvPr id="9" name="Rectangle 8"/>
          <p:cNvSpPr/>
          <p:nvPr/>
        </p:nvSpPr>
        <p:spPr>
          <a:xfrm>
            <a:off x="684000" y="5814000"/>
            <a:ext cx="10836000" cy="666000"/>
          </a:xfrm>
          <a:prstGeom prst="rect">
            <a:avLst/>
          </a:prstGeom>
          <a:solidFill>
            <a:srgbClr val="ED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4000" y="5814000"/>
            <a:ext cx="46800" cy="666000"/>
          </a:xfrm>
          <a:prstGeom prst="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000" y="5814000"/>
            <a:ext cx="10440000" cy="66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2303C"/>
                </a:solidFill>
                <a:latin typeface="Microsoft YaHei"/>
              </a:rPr>
              <a:t>真正带来判断恢复的是把任务规则讲清楚，不是结构化空间证据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413999"/>
            <a:ext cx="1080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303C"/>
                </a:solidFill>
                <a:latin typeface="Microsoft YaHei"/>
              </a:rPr>
              <a:t>32B 的行为完全不同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943200"/>
            <a:ext cx="1116000" cy="39600"/>
          </a:xfrm>
          <a:prstGeom prst="rect">
            <a:avLst/>
          </a:prstGeom>
          <a:solidFill>
            <a:srgbClr val="2F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000" y="1080000"/>
            <a:ext cx="108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6672"/>
                </a:solidFill>
                <a:latin typeface="Microsoft YaHei"/>
              </a:rPr>
              <a:t>提示词与 7B 逐字节相同，样本一致，唯一变量是模型规模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4000" y="1512000"/>
          <a:ext cx="5115600" cy="2069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600"/>
                <a:gridCol w="1548000"/>
                <a:gridCol w="1548000"/>
              </a:tblGrid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</a:rPr>
                        <a:t>32B 条件</a:t>
                      </a:r>
                    </a:p>
                  </a:txBody>
                  <a:tcPr marL="100800" marR="100800" marT="28800" marB="28800" anchor="ctr">
                    <a:solidFill>
                      <a:srgbClr val="2F6F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</a:rPr>
                        <a:t>综合判别指标</a:t>
                      </a:r>
                    </a:p>
                  </a:txBody>
                  <a:tcPr marL="100800" marR="100800" marT="28800" marB="28800" anchor="ctr">
                    <a:solidFill>
                      <a:srgbClr val="2F6F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</a:rPr>
                        <a:t>真图误报率</a:t>
                      </a:r>
                    </a:p>
                  </a:txBody>
                  <a:tcPr marL="100800" marR="100800" marT="28800" marB="28800" anchor="ctr">
                    <a:solidFill>
                      <a:srgbClr val="2F6FA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303C"/>
                          </a:solidFill>
                          <a:latin typeface="Microsoft YaHei"/>
                        </a:rPr>
                        <a:t>仅分数、无规则</a:t>
                      </a:r>
                    </a:p>
                  </a:txBody>
                  <a:tcPr marL="100800" marR="100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4622D"/>
                          </a:solidFill>
                          <a:latin typeface="Microsoft YaHei"/>
                        </a:rPr>
                        <a:t>0.918</a:t>
                      </a:r>
                    </a:p>
                  </a:txBody>
                  <a:tcPr marL="100800" marR="100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303C"/>
                          </a:solidFill>
                          <a:latin typeface="Microsoft YaHei"/>
                        </a:rPr>
                        <a:t>0.060</a:t>
                      </a:r>
                    </a:p>
                  </a:txBody>
                  <a:tcPr marL="100800" marR="100800" marT="28800" marB="28800" anchor="ctr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303C"/>
                          </a:solidFill>
                          <a:latin typeface="Microsoft YaHei"/>
                        </a:rPr>
                        <a:t>仅分数、加规则</a:t>
                      </a:r>
                    </a:p>
                  </a:txBody>
                  <a:tcPr marL="100800" marR="100800" marT="28800" marB="288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303C"/>
                          </a:solidFill>
                          <a:latin typeface="Microsoft YaHei"/>
                        </a:rPr>
                        <a:t>0.880</a:t>
                      </a:r>
                    </a:p>
                  </a:txBody>
                  <a:tcPr marL="100800" marR="100800" marT="28800" marB="288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303C"/>
                          </a:solidFill>
                          <a:latin typeface="Microsoft YaHei"/>
                        </a:rPr>
                        <a:t>0.109</a:t>
                      </a:r>
                    </a:p>
                  </a:txBody>
                  <a:tcPr marL="100800" marR="100800" marT="28800" marB="28800" anchor="ctr">
                    <a:solidFill>
                      <a:srgbClr val="F2F5F8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303C"/>
                          </a:solidFill>
                          <a:latin typeface="Microsoft YaHei"/>
                        </a:rPr>
                        <a:t>加证据、无规则</a:t>
                      </a:r>
                    </a:p>
                  </a:txBody>
                  <a:tcPr marL="100800" marR="100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303C"/>
                          </a:solidFill>
                          <a:latin typeface="Microsoft YaHei"/>
                        </a:rPr>
                        <a:t>0.902</a:t>
                      </a:r>
                    </a:p>
                  </a:txBody>
                  <a:tcPr marL="100800" marR="100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303C"/>
                          </a:solidFill>
                          <a:latin typeface="Microsoft YaHei"/>
                        </a:rPr>
                        <a:t>0.076</a:t>
                      </a:r>
                    </a:p>
                  </a:txBody>
                  <a:tcPr marL="100800" marR="100800" marT="28800" marB="28800" anchor="ctr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303C"/>
                          </a:solidFill>
                          <a:latin typeface="Microsoft YaHei"/>
                        </a:rPr>
                        <a:t>加证据、加规则</a:t>
                      </a:r>
                    </a:p>
                  </a:txBody>
                  <a:tcPr marL="100800" marR="100800" marT="28800" marB="288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4622D"/>
                          </a:solidFill>
                          <a:latin typeface="Microsoft YaHei"/>
                        </a:rPr>
                        <a:t>0.663</a:t>
                      </a:r>
                    </a:p>
                  </a:txBody>
                  <a:tcPr marL="100800" marR="100800" marT="28800" marB="288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4622D"/>
                          </a:solidFill>
                          <a:latin typeface="Microsoft YaHei"/>
                        </a:rPr>
                        <a:t>0.337</a:t>
                      </a:r>
                    </a:p>
                  </a:txBody>
                  <a:tcPr marL="100800" marR="100800" marT="28800" marB="28800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fig4_32B四格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000" y="1475999"/>
            <a:ext cx="4328628" cy="252000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684000" y="4183200"/>
            <a:ext cx="93600" cy="93600"/>
          </a:xfrm>
          <a:prstGeom prst="ellipse">
            <a:avLst/>
          </a:prstGeom>
          <a:solidFill>
            <a:srgbClr val="2F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3200" y="4104000"/>
            <a:ext cx="10540800" cy="4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2303C"/>
                </a:solidFill>
                <a:latin typeface="Microsoft YaHei"/>
              </a:rPr>
              <a:t>32B 不会出现 7B 那种崩塌：加证据后召回率差异精确为 0.000。</a:t>
            </a:r>
          </a:p>
        </p:txBody>
      </p:sp>
      <p:sp>
        <p:nvSpPr>
          <p:cNvPr id="10" name="Oval 9"/>
          <p:cNvSpPr/>
          <p:nvPr/>
        </p:nvSpPr>
        <p:spPr>
          <a:xfrm>
            <a:off x="684000" y="4669200"/>
            <a:ext cx="93600" cy="93600"/>
          </a:xfrm>
          <a:prstGeom prst="ellipse">
            <a:avLst/>
          </a:prstGeom>
          <a:solidFill>
            <a:srgbClr val="2F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3200" y="4590000"/>
            <a:ext cx="10540800" cy="4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2303C"/>
                </a:solidFill>
                <a:latin typeface="Microsoft YaHei"/>
              </a:rPr>
              <a:t>再加规则反而容易误判真图：误报率升到 0.337，三分之一真图被判假。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4000" y="5814000"/>
            <a:ext cx="10836000" cy="666000"/>
          </a:xfrm>
          <a:prstGeom prst="rect">
            <a:avLst/>
          </a:prstGeom>
          <a:solidFill>
            <a:srgbClr val="ED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4000" y="5814000"/>
            <a:ext cx="46800" cy="666000"/>
          </a:xfrm>
          <a:prstGeom prst="rect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000" y="5814000"/>
            <a:ext cx="10440000" cy="66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2303C"/>
                </a:solidFill>
                <a:latin typeface="Microsoft YaHei"/>
              </a:rPr>
              <a:t>32B 最好的配置是「只给整图分数」；因此 7B 上的这两条机制与模型规模有关，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700" b="1">
                <a:solidFill>
                  <a:srgbClr val="22303C"/>
                </a:solidFill>
                <a:latin typeface="Microsoft YaHei"/>
              </a:rPr>
              <a:t>不能说成这一类模型的普遍规律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413999"/>
            <a:ext cx="1080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303C"/>
                </a:solidFill>
                <a:latin typeface="Microsoft YaHei"/>
              </a:rPr>
              <a:t>那么空间证据真正带来的是什么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943200"/>
            <a:ext cx="1116000" cy="39600"/>
          </a:xfrm>
          <a:prstGeom prst="rect">
            <a:avLst/>
          </a:prstGeom>
          <a:solidFill>
            <a:srgbClr val="2F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1404000"/>
            <a:ext cx="10836000" cy="684000"/>
          </a:xfrm>
          <a:prstGeom prst="rect">
            <a:avLst/>
          </a:prstGeom>
          <a:solidFill>
            <a:srgbClr val="ED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1404000"/>
            <a:ext cx="10836000" cy="68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3E8E5A"/>
                </a:solidFill>
                <a:latin typeface="Microsoft YaHei"/>
              </a:rPr>
              <a:t>不是更高的真假判断准确率，而是更可靠的位置解释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4000" y="2268000"/>
          <a:ext cx="5400000" cy="167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2800"/>
                <a:gridCol w="1386000"/>
                <a:gridCol w="1591200"/>
              </a:tblGrid>
              <a:tr h="4176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 marL="100800" marR="100800" marT="28800" marB="28800" anchor="ctr">
                    <a:solidFill>
                      <a:srgbClr val="2F6F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直接给热力图</a:t>
                      </a:r>
                    </a:p>
                  </a:txBody>
                  <a:tcPr marL="100800" marR="100800" marT="28800" marB="28800" anchor="ctr">
                    <a:solidFill>
                      <a:srgbClr val="2F6F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转成文字位置描述</a:t>
                      </a:r>
                    </a:p>
                  </a:txBody>
                  <a:tcPr marL="100800" marR="100800" marT="28800" marB="28800" anchor="ctr">
                    <a:solidFill>
                      <a:srgbClr val="2F6FAF"/>
                    </a:solidFill>
                  </a:tcPr>
                </a:tc>
              </a:tr>
              <a:tr h="4176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303C"/>
                          </a:solidFill>
                          <a:latin typeface="Microsoft YaHei"/>
                        </a:rPr>
                        <a:t>解释与工具证据一致</a:t>
                      </a:r>
                    </a:p>
                  </a:txBody>
                  <a:tcPr marL="100800" marR="100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303C"/>
                          </a:solidFill>
                          <a:latin typeface="Microsoft YaHei"/>
                        </a:rPr>
                        <a:t>0.404</a:t>
                      </a:r>
                    </a:p>
                  </a:txBody>
                  <a:tcPr marL="100800" marR="100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4622D"/>
                          </a:solidFill>
                          <a:latin typeface="Microsoft YaHei"/>
                        </a:rPr>
                        <a:t>1.000</a:t>
                      </a:r>
                    </a:p>
                  </a:txBody>
                  <a:tcPr marL="100800" marR="100800" marT="28800" marB="28800" anchor="ctr">
                    <a:solidFill>
                      <a:srgbClr val="FFFFFF"/>
                    </a:solidFill>
                  </a:tcPr>
                </a:tc>
              </a:tr>
              <a:tr h="4176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303C"/>
                          </a:solidFill>
                          <a:latin typeface="Microsoft YaHei"/>
                        </a:rPr>
                        <a:t>解释命中真实篡改区域</a:t>
                      </a:r>
                    </a:p>
                  </a:txBody>
                  <a:tcPr marL="100800" marR="100800" marT="28800" marB="288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303C"/>
                          </a:solidFill>
                          <a:latin typeface="Microsoft YaHei"/>
                        </a:rPr>
                        <a:t>0.660</a:t>
                      </a:r>
                    </a:p>
                  </a:txBody>
                  <a:tcPr marL="100800" marR="100800" marT="28800" marB="288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4622D"/>
                          </a:solidFill>
                          <a:latin typeface="Microsoft YaHei"/>
                        </a:rPr>
                        <a:t>1.000</a:t>
                      </a:r>
                    </a:p>
                  </a:txBody>
                  <a:tcPr marL="100800" marR="100800" marT="28800" marB="28800" anchor="ctr">
                    <a:solidFill>
                      <a:srgbClr val="F2F5F8"/>
                    </a:solidFill>
                  </a:tcPr>
                </a:tc>
              </a:tr>
              <a:tr h="4176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303C"/>
                          </a:solidFill>
                          <a:latin typeface="Microsoft YaHei"/>
                        </a:rPr>
                        <a:t>解释的位置准确度</a:t>
                      </a:r>
                    </a:p>
                  </a:txBody>
                  <a:tcPr marL="100800" marR="100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303C"/>
                          </a:solidFill>
                          <a:latin typeface="Microsoft YaHei"/>
                        </a:rPr>
                        <a:t>0.657</a:t>
                      </a:r>
                    </a:p>
                  </a:txBody>
                  <a:tcPr marL="100800" marR="100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4622D"/>
                          </a:solidFill>
                          <a:latin typeface="Microsoft YaHei"/>
                        </a:rPr>
                        <a:t>0.995</a:t>
                      </a:r>
                    </a:p>
                  </a:txBody>
                  <a:tcPr marL="100800" marR="100800" marT="28800" marB="28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fig6_热力图对结构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000" y="2268000"/>
            <a:ext cx="4971894" cy="259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4000" y="6228000"/>
            <a:ext cx="10800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672"/>
                </a:solidFill>
                <a:latin typeface="Microsoft YaHei"/>
              </a:rPr>
              <a:t>提醒：命中率容易受标注区域横跨多个网格影响（184 张里 54 张跨 4 格以上），要连位置准确度和覆盖完整度一起看 —— 工具覆盖完整度只有 0.531，模型解释也继承了这个缺口。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413999"/>
            <a:ext cx="1080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303C"/>
                </a:solidFill>
                <a:latin typeface="Microsoft YaHei"/>
              </a:rPr>
              <a:t>模型很听工具的话，但不会自己纠错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943200"/>
            <a:ext cx="1116000" cy="39600"/>
          </a:xfrm>
          <a:prstGeom prst="rect">
            <a:avLst/>
          </a:prstGeom>
          <a:solidFill>
            <a:srgbClr val="2F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000" y="1080000"/>
            <a:ext cx="108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6672"/>
                </a:solidFill>
                <a:latin typeface="Microsoft YaHei"/>
              </a:rPr>
              <a:t>把结构化证据左右镜像：位置描述变错，强度数值和原图都不动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4000" y="1655999"/>
          <a:ext cx="453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/>
                <a:gridCol w="1296000"/>
                <a:gridCol w="1620000"/>
              </a:tblGrid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100800" marR="100800" marT="28800" marB="28800" anchor="ctr">
                    <a:solidFill>
                      <a:srgbClr val="2F6F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</a:rPr>
                        <a:t>正确证据</a:t>
                      </a:r>
                    </a:p>
                  </a:txBody>
                  <a:tcPr marL="100800" marR="100800" marT="28800" marB="28800" anchor="ctr">
                    <a:solidFill>
                      <a:srgbClr val="2F6F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</a:rPr>
                        <a:t>镜像之后</a:t>
                      </a:r>
                    </a:p>
                  </a:txBody>
                  <a:tcPr marL="100800" marR="100800" marT="28800" marB="28800" anchor="ctr">
                    <a:solidFill>
                      <a:srgbClr val="2F6FA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303C"/>
                          </a:solidFill>
                          <a:latin typeface="Microsoft YaHei"/>
                        </a:rPr>
                        <a:t>工具说</a:t>
                      </a:r>
                    </a:p>
                  </a:txBody>
                  <a:tcPr marL="100800" marR="100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303C"/>
                          </a:solidFill>
                          <a:latin typeface="Microsoft YaHei"/>
                        </a:rPr>
                        <a:t>右下</a:t>
                      </a:r>
                    </a:p>
                  </a:txBody>
                  <a:tcPr marL="100800" marR="100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4622D"/>
                          </a:solidFill>
                          <a:latin typeface="Microsoft YaHei"/>
                        </a:rPr>
                        <a:t>左下（已改错）</a:t>
                      </a:r>
                    </a:p>
                  </a:txBody>
                  <a:tcPr marL="100800" marR="100800" marT="28800" marB="28800" anchor="ctr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303C"/>
                          </a:solidFill>
                          <a:latin typeface="Microsoft YaHei"/>
                        </a:rPr>
                        <a:t>模型解释说</a:t>
                      </a:r>
                    </a:p>
                  </a:txBody>
                  <a:tcPr marL="100800" marR="100800" marT="28800" marB="288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303C"/>
                          </a:solidFill>
                          <a:latin typeface="Microsoft YaHei"/>
                        </a:rPr>
                        <a:t>右下</a:t>
                      </a:r>
                    </a:p>
                  </a:txBody>
                  <a:tcPr marL="100800" marR="100800" marT="28800" marB="288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4622D"/>
                          </a:solidFill>
                          <a:latin typeface="Microsoft YaHei"/>
                        </a:rPr>
                        <a:t>左下</a:t>
                      </a:r>
                    </a:p>
                  </a:txBody>
                  <a:tcPr marL="100800" marR="100800" marT="28800" marB="28800" anchor="ctr">
                    <a:solidFill>
                      <a:srgbClr val="F2F5F8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303C"/>
                          </a:solidFill>
                          <a:latin typeface="Microsoft YaHei"/>
                        </a:rPr>
                        <a:t>真实篡改区域</a:t>
                      </a:r>
                    </a:p>
                  </a:txBody>
                  <a:tcPr marL="100800" marR="100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303C"/>
                          </a:solidFill>
                          <a:latin typeface="Microsoft YaHei"/>
                        </a:rPr>
                        <a:t>右下</a:t>
                      </a:r>
                    </a:p>
                  </a:txBody>
                  <a:tcPr marL="100800" marR="100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303C"/>
                          </a:solidFill>
                          <a:latin typeface="Microsoft YaHei"/>
                        </a:rPr>
                        <a:t>右下</a:t>
                      </a:r>
                    </a:p>
                  </a:txBody>
                  <a:tcPr marL="100800" marR="100800" marT="28800" marB="28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4000" y="3456000"/>
            <a:ext cx="45360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A6672"/>
                </a:solidFill>
                <a:latin typeface="Microsoft YaHei"/>
              </a:rPr>
              <a:t>镜像之后：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600" b="0">
                <a:solidFill>
                  <a:srgbClr val="5A6672"/>
                </a:solidFill>
                <a:latin typeface="Microsoft YaHei"/>
              </a:rPr>
              <a:t>跟随输入证据 1.000（不变）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600" b="0">
                <a:solidFill>
                  <a:srgbClr val="5A6672"/>
                </a:solidFill>
                <a:latin typeface="Microsoft YaHei"/>
              </a:rPr>
              <a:t>命中真实区域 7B 0.014 ／ 32B 0.029</a:t>
            </a:r>
          </a:p>
        </p:txBody>
      </p:sp>
      <p:pic>
        <p:nvPicPr>
          <p:cNvPr id="8" name="Picture 7" descr="fig7_镜像证据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4000" y="1584000"/>
            <a:ext cx="5838615" cy="295199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84000" y="5814000"/>
            <a:ext cx="10836000" cy="666000"/>
          </a:xfrm>
          <a:prstGeom prst="rect">
            <a:avLst/>
          </a:prstGeom>
          <a:solidFill>
            <a:srgbClr val="ED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4000" y="5814000"/>
            <a:ext cx="46800" cy="666000"/>
          </a:xfrm>
          <a:prstGeom prst="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000" y="5814000"/>
            <a:ext cx="10440000" cy="66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2303C"/>
                </a:solidFill>
                <a:latin typeface="Microsoft YaHei"/>
              </a:rPr>
              <a:t>工具错在哪里，模型通常也跟着错到哪里 —— 结构化证据带来的「解释准确」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700" b="1">
                <a:solidFill>
                  <a:srgbClr val="22303C"/>
                </a:solidFill>
                <a:latin typeface="Microsoft YaHei"/>
              </a:rPr>
              <a:t>是借来的准确，来自工具正确，不是模型自己有核对能力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413999"/>
            <a:ext cx="1080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303C"/>
                </a:solidFill>
                <a:latin typeface="Microsoft YaHei"/>
              </a:rPr>
              <a:t>位置说对，不代表理由说对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943200"/>
            <a:ext cx="1116000" cy="39600"/>
          </a:xfrm>
          <a:prstGeom prst="rect">
            <a:avLst/>
          </a:prstGeom>
          <a:solidFill>
            <a:srgbClr val="2F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000" y="1080000"/>
            <a:ext cx="108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6672"/>
                </a:solidFill>
                <a:latin typeface="Microsoft YaHei"/>
              </a:rPr>
              <a:t>对假图解释的逐条审查，各 100 条，同一批图像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4000" y="1548000"/>
          <a:ext cx="5112000" cy="2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1296000"/>
                <a:gridCol w="1296000"/>
              </a:tblGrid>
              <a:tr h="403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对假图的解释</a:t>
                      </a:r>
                    </a:p>
                  </a:txBody>
                  <a:tcPr marL="100800" marR="100800" marT="28800" marB="28800" anchor="ctr">
                    <a:solidFill>
                      <a:srgbClr val="2F6F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7B</a:t>
                      </a:r>
                    </a:p>
                  </a:txBody>
                  <a:tcPr marL="100800" marR="100800" marT="28800" marB="28800" anchor="ctr">
                    <a:solidFill>
                      <a:srgbClr val="2F6F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</a:rPr>
                        <a:t>32B</a:t>
                      </a:r>
                    </a:p>
                  </a:txBody>
                  <a:tcPr marL="100800" marR="100800" marT="28800" marB="28800" anchor="ctr">
                    <a:solidFill>
                      <a:srgbClr val="2F6FAF"/>
                    </a:solidFill>
                  </a:tcPr>
                </a:tc>
              </a:tr>
              <a:tr h="403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303C"/>
                          </a:solidFill>
                          <a:latin typeface="Microsoft YaHei"/>
                        </a:rPr>
                        <a:t>完全有图像依据</a:t>
                      </a:r>
                    </a:p>
                  </a:txBody>
                  <a:tcPr marL="100800" marR="100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303C"/>
                          </a:solidFill>
                          <a:latin typeface="Microsoft YaHei"/>
                        </a:rPr>
                        <a:t>4%</a:t>
                      </a:r>
                    </a:p>
                  </a:txBody>
                  <a:tcPr marL="100800" marR="100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4622D"/>
                          </a:solidFill>
                          <a:latin typeface="Microsoft YaHei"/>
                        </a:rPr>
                        <a:t>49%</a:t>
                      </a:r>
                    </a:p>
                  </a:txBody>
                  <a:tcPr marL="100800" marR="100800" marT="28800" marB="28800" anchor="ctr">
                    <a:solidFill>
                      <a:srgbClr val="FFFFFF"/>
                    </a:solidFill>
                  </a:tcPr>
                </a:tc>
              </a:tr>
              <a:tr h="403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303C"/>
                          </a:solidFill>
                          <a:latin typeface="Microsoft YaHei"/>
                        </a:rPr>
                        <a:t>部分有依据</a:t>
                      </a:r>
                    </a:p>
                  </a:txBody>
                  <a:tcPr marL="100800" marR="100800" marT="28800" marB="288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303C"/>
                          </a:solidFill>
                          <a:latin typeface="Microsoft YaHei"/>
                        </a:rPr>
                        <a:t>31%</a:t>
                      </a:r>
                    </a:p>
                  </a:txBody>
                  <a:tcPr marL="100800" marR="100800" marT="28800" marB="288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303C"/>
                          </a:solidFill>
                          <a:latin typeface="Microsoft YaHei"/>
                        </a:rPr>
                        <a:t>50%</a:t>
                      </a:r>
                    </a:p>
                  </a:txBody>
                  <a:tcPr marL="100800" marR="100800" marT="28800" marB="28800" anchor="ctr">
                    <a:solidFill>
                      <a:srgbClr val="F2F5F8"/>
                    </a:solidFill>
                  </a:tcPr>
                </a:tc>
              </a:tr>
              <a:tr h="403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303C"/>
                          </a:solidFill>
                          <a:latin typeface="Microsoft YaHei"/>
                        </a:rPr>
                        <a:t>没有依据</a:t>
                      </a:r>
                    </a:p>
                  </a:txBody>
                  <a:tcPr marL="100800" marR="100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4622D"/>
                          </a:solidFill>
                          <a:latin typeface="Microsoft YaHei"/>
                        </a:rPr>
                        <a:t>61%</a:t>
                      </a:r>
                    </a:p>
                  </a:txBody>
                  <a:tcPr marL="100800" marR="100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303C"/>
                          </a:solidFill>
                          <a:latin typeface="Microsoft YaHei"/>
                        </a:rPr>
                        <a:t>1%</a:t>
                      </a:r>
                    </a:p>
                  </a:txBody>
                  <a:tcPr marL="100800" marR="100800" marT="28800" marB="28800" anchor="ctr">
                    <a:solidFill>
                      <a:srgbClr val="FFFFFF"/>
                    </a:solidFill>
                  </a:tcPr>
                </a:tc>
              </a:tr>
              <a:tr h="403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303C"/>
                          </a:solidFill>
                          <a:latin typeface="Microsoft YaHei"/>
                        </a:rPr>
                        <a:t>「被篡改」说法没有依据</a:t>
                      </a:r>
                    </a:p>
                  </a:txBody>
                  <a:tcPr marL="100800" marR="100800" marT="28800" marB="288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4622D"/>
                          </a:solidFill>
                          <a:latin typeface="Microsoft YaHei"/>
                        </a:rPr>
                        <a:t>79.1%</a:t>
                      </a:r>
                    </a:p>
                  </a:txBody>
                  <a:tcPr marL="100800" marR="100800" marT="28800" marB="288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303C"/>
                          </a:solidFill>
                          <a:latin typeface="Microsoft YaHei"/>
                        </a:rPr>
                        <a:t>4.4%</a:t>
                      </a:r>
                    </a:p>
                  </a:txBody>
                  <a:tcPr marL="100800" marR="100800" marT="28800" marB="28800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fig8_解释支持度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999" y="1692000"/>
            <a:ext cx="5377745" cy="2844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4000" y="3671999"/>
            <a:ext cx="5112000" cy="972000"/>
          </a:xfrm>
          <a:prstGeom prst="rect">
            <a:avLst/>
          </a:prstGeom>
          <a:solidFill>
            <a:srgbClr val="FA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000" y="3671999"/>
            <a:ext cx="4824000" cy="9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2303C"/>
                </a:solidFill>
                <a:latin typeface="Microsoft YaHei"/>
              </a:rPr>
              <a:t>7B 在这 100 张图上位置全部说对，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600" b="1">
                <a:solidFill>
                  <a:srgbClr val="22303C"/>
                </a:solidFill>
                <a:latin typeface="Microsoft YaHei"/>
              </a:rPr>
              <a:t>却有 61% 的解释没有依据 ——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600" b="1">
                <a:solidFill>
                  <a:srgbClr val="22303C"/>
                </a:solidFill>
                <a:latin typeface="Microsoft YaHei"/>
              </a:rPr>
              <a:t>地方找对了，原因说错了。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000" y="6228000"/>
            <a:ext cx="10800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672"/>
                </a:solidFill>
                <a:latin typeface="Microsoft YaHei"/>
              </a:rPr>
              <a:t>两个模型虚构物体的情况都很少（3% 与 1%），问题不是「看见不存在的东西」。语义解释结果来自盲化辅助标注，用于内部分析，不是独立人工真值，仍需后续更严格验证。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413999"/>
            <a:ext cx="1080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303C"/>
                </a:solidFill>
                <a:latin typeface="Microsoft YaHei"/>
              </a:rPr>
              <a:t>这阶段最终得到什么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943200"/>
            <a:ext cx="1116000" cy="39600"/>
          </a:xfrm>
          <a:prstGeom prst="rect">
            <a:avLst/>
          </a:prstGeom>
          <a:solidFill>
            <a:srgbClr val="2F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4000" y="1540800"/>
            <a:ext cx="413999" cy="413999"/>
          </a:xfrm>
          <a:prstGeom prst="ellipse">
            <a:avLst/>
          </a:prstGeom>
          <a:solidFill>
            <a:srgbClr val="2F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1540800"/>
            <a:ext cx="413999" cy="41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6000" y="1440000"/>
            <a:ext cx="10152000" cy="93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22303C"/>
                </a:solidFill>
                <a:latin typeface="Microsoft YaHei"/>
              </a:rPr>
              <a:t>TruFor 的整图篡改分数是当前最可靠的真假判断信号。</a:t>
            </a:r>
          </a:p>
        </p:txBody>
      </p:sp>
      <p:sp>
        <p:nvSpPr>
          <p:cNvPr id="8" name="Oval 7"/>
          <p:cNvSpPr/>
          <p:nvPr/>
        </p:nvSpPr>
        <p:spPr>
          <a:xfrm>
            <a:off x="684000" y="2566800"/>
            <a:ext cx="413999" cy="413999"/>
          </a:xfrm>
          <a:prstGeom prst="ellipse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4000" y="2566800"/>
            <a:ext cx="413999" cy="41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6000" y="2466000"/>
            <a:ext cx="10152000" cy="93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22303C"/>
                </a:solidFill>
                <a:latin typeface="Microsoft YaHei"/>
              </a:rPr>
              <a:t>直接加入空间证据并不会稳定提高真假判断。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800" b="0">
                <a:solidFill>
                  <a:srgbClr val="22303C"/>
                </a:solidFill>
                <a:latin typeface="Microsoft YaHei"/>
              </a:rPr>
              <a:t>7B 上差异置信区间包含 0，32B 上甚至变差。</a:t>
            </a:r>
          </a:p>
        </p:txBody>
      </p:sp>
      <p:sp>
        <p:nvSpPr>
          <p:cNvPr id="11" name="Oval 10"/>
          <p:cNvSpPr/>
          <p:nvPr/>
        </p:nvSpPr>
        <p:spPr>
          <a:xfrm>
            <a:off x="684000" y="3592800"/>
            <a:ext cx="413999" cy="413999"/>
          </a:xfrm>
          <a:prstGeom prst="ellipse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3592800"/>
            <a:ext cx="413999" cy="41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6000" y="3492000"/>
            <a:ext cx="10152000" cy="93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22303C"/>
                </a:solidFill>
                <a:latin typeface="Microsoft YaHei"/>
              </a:rPr>
              <a:t>把空间证据结构化后，可以明显提高模型的位置解释能力。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800" b="0">
                <a:solidFill>
                  <a:srgbClr val="22303C"/>
                </a:solidFill>
                <a:latin typeface="Microsoft YaHei"/>
              </a:rPr>
              <a:t>与证据一致率 1.000，虚报率 0.000。</a:t>
            </a:r>
          </a:p>
        </p:txBody>
      </p:sp>
      <p:sp>
        <p:nvSpPr>
          <p:cNvPr id="14" name="Oval 13"/>
          <p:cNvSpPr/>
          <p:nvPr/>
        </p:nvSpPr>
        <p:spPr>
          <a:xfrm>
            <a:off x="684000" y="4618800"/>
            <a:ext cx="413999" cy="413999"/>
          </a:xfrm>
          <a:prstGeom prst="ellipse">
            <a:avLst/>
          </a:prstGeom>
          <a:solidFill>
            <a:srgbClr val="C4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4000" y="4618800"/>
            <a:ext cx="413999" cy="41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6000" y="4518000"/>
            <a:ext cx="10152000" cy="93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22303C"/>
                </a:solidFill>
                <a:latin typeface="Microsoft YaHei"/>
              </a:rPr>
              <a:t>模型能忠实跟随工具，但未必会独立验证工具，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800" b="0">
                <a:solidFill>
                  <a:srgbClr val="22303C"/>
                </a:solidFill>
                <a:latin typeface="Microsoft YaHei"/>
              </a:rPr>
              <a:t>也未必能稳定解释「为什么这里是假」。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000" y="6228000"/>
            <a:ext cx="10800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672"/>
                </a:solidFill>
                <a:latin typeface="Microsoft YaHei"/>
              </a:rPr>
              <a:t>限制：仅在 TGIF sd2-sp 一个数据集、一类篡改上验证；报告阈值是评测工作点，不是可直接部署的阈值。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413999"/>
            <a:ext cx="1080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22303C"/>
                </a:solidFill>
                <a:latin typeface="Microsoft YaHei"/>
              </a:rPr>
              <a:t>下一阶段：从「告诉它哪里可疑」到「让它学会为什么可疑」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684000" y="943200"/>
            <a:ext cx="1116000" cy="39600"/>
          </a:xfrm>
          <a:prstGeom prst="rect">
            <a:avLst/>
          </a:prstGeom>
          <a:solidFill>
            <a:srgbClr val="2F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000" y="1440000"/>
            <a:ext cx="1080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22303C"/>
                </a:solidFill>
                <a:latin typeface="Microsoft YaHei"/>
              </a:rPr>
              <a:t>Training-Free 阶段已经回答了「工具 ＋ 大模型直接推理能做到什么」。</a:t>
            </a:r>
          </a:p>
        </p:txBody>
      </p:sp>
      <p:sp>
        <p:nvSpPr>
          <p:cNvPr id="6" name="Oval 5"/>
          <p:cNvSpPr/>
          <p:nvPr/>
        </p:nvSpPr>
        <p:spPr>
          <a:xfrm>
            <a:off x="684000" y="2203200"/>
            <a:ext cx="93600" cy="93600"/>
          </a:xfrm>
          <a:prstGeom prst="ellipse">
            <a:avLst/>
          </a:prstGeom>
          <a:solidFill>
            <a:srgbClr val="2F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3200" y="2124000"/>
            <a:ext cx="105408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22303C"/>
                </a:solidFill>
                <a:latin typeface="Microsoft YaHei"/>
              </a:rPr>
              <a:t>构造区域级的解释数据；</a:t>
            </a:r>
          </a:p>
        </p:txBody>
      </p:sp>
      <p:sp>
        <p:nvSpPr>
          <p:cNvPr id="8" name="Oval 7"/>
          <p:cNvSpPr/>
          <p:nvPr/>
        </p:nvSpPr>
        <p:spPr>
          <a:xfrm>
            <a:off x="684000" y="2707199"/>
            <a:ext cx="93600" cy="93600"/>
          </a:xfrm>
          <a:prstGeom prst="ellipse">
            <a:avLst/>
          </a:prstGeom>
          <a:solidFill>
            <a:srgbClr val="2F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3200" y="2627999"/>
            <a:ext cx="105408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22303C"/>
                </a:solidFill>
                <a:latin typeface="Microsoft YaHei"/>
              </a:rPr>
              <a:t>微调 / 后训练；</a:t>
            </a:r>
          </a:p>
        </p:txBody>
      </p:sp>
      <p:sp>
        <p:nvSpPr>
          <p:cNvPr id="10" name="Oval 9"/>
          <p:cNvSpPr/>
          <p:nvPr/>
        </p:nvSpPr>
        <p:spPr>
          <a:xfrm>
            <a:off x="684000" y="3211198"/>
            <a:ext cx="93600" cy="93600"/>
          </a:xfrm>
          <a:prstGeom prst="ellipse">
            <a:avLst/>
          </a:prstGeom>
          <a:solidFill>
            <a:srgbClr val="2F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3200" y="3131998"/>
            <a:ext cx="105408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22303C"/>
                </a:solidFill>
                <a:latin typeface="Microsoft YaHei"/>
              </a:rPr>
              <a:t>教模型识别纹理、边缘、光照、几何等具体异常；</a:t>
            </a:r>
          </a:p>
        </p:txBody>
      </p:sp>
      <p:sp>
        <p:nvSpPr>
          <p:cNvPr id="12" name="Oval 11"/>
          <p:cNvSpPr/>
          <p:nvPr/>
        </p:nvSpPr>
        <p:spPr>
          <a:xfrm>
            <a:off x="684000" y="3715197"/>
            <a:ext cx="93600" cy="93600"/>
          </a:xfrm>
          <a:prstGeom prst="ellipse">
            <a:avLst/>
          </a:prstGeom>
          <a:solidFill>
            <a:srgbClr val="2F6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3200" y="3635997"/>
            <a:ext cx="105408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22303C"/>
                </a:solidFill>
                <a:latin typeface="Microsoft YaHei"/>
              </a:rPr>
              <a:t>验证解释是否真正正确，而不只是变流畅。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4000" y="4284000"/>
            <a:ext cx="10836000" cy="936000"/>
          </a:xfrm>
          <a:prstGeom prst="rect">
            <a:avLst/>
          </a:prstGeom>
          <a:solidFill>
            <a:srgbClr val="EC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000" y="4284000"/>
            <a:ext cx="10440000" cy="93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22303C"/>
                </a:solidFill>
                <a:latin typeface="Microsoft YaHei"/>
              </a:rPr>
              <a:t>两个现成条件：真假图只在篡改区域内有差别，天然提供对照；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700" b="0">
                <a:solidFill>
                  <a:srgbClr val="22303C"/>
                </a:solidFill>
                <a:latin typeface="Microsoft YaHei"/>
              </a:rPr>
              <a:t>本阶段建立的解释审查标准可以直接用于衡量训练效果。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4000" y="6228000"/>
            <a:ext cx="10800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672"/>
                </a:solidFill>
                <a:latin typeface="Microsoft YaHei"/>
              </a:rPr>
              <a:t>本阶段代码与结果已冻结，标签 training-free-v1。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